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(7d Avg)</c:v>
                </c:pt>
              </c:strCache>
            </c:strRef>
          </c:tx>
          <c:spPr>
            <a:solidFill>
              <a:srgbClr val="4F8BF9"/>
            </a:solidFill>
            <a:ln w="38100" cap="flat">
              <a:solidFill>
                <a:srgbClr val="4F8B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BF9"/>
              </a:solidFill>
              <a:ln w="9525" cap="flat">
                <a:solidFill>
                  <a:srgbClr val="4F8B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Jan '23</c:v>
                  </c:pt>
                  <c:pt idx="1">
                    <c:v>Apr '23</c:v>
                  </c:pt>
                  <c:pt idx="2">
                    <c:v>Jul '23</c:v>
                  </c:pt>
                  <c:pt idx="3">
                    <c:v>Oct '23</c:v>
                  </c:pt>
                  <c:pt idx="4">
                    <c:v>Jan '24</c:v>
                  </c:pt>
                  <c:pt idx="5">
                    <c:v>Apr '24</c:v>
                  </c:pt>
                  <c:pt idx="6">
                    <c:v>Jul '24</c:v>
                  </c:pt>
                  <c:pt idx="7">
                    <c:v>Oct '24</c:v>
                  </c:pt>
                  <c:pt idx="8">
                    <c:v>Jan '25</c:v>
                  </c:pt>
                  <c:pt idx="9">
                    <c:v>Apr '25</c:v>
                  </c:pt>
                  <c:pt idx="10">
                    <c:v>Jul '25</c:v>
                  </c:pt>
                  <c:pt idx="11">
                    <c:v>Oct '25</c:v>
                  </c:pt>
                  <c:pt idx="12">
                    <c:v>Jan '26</c:v>
                  </c:pt>
                  <c:pt idx="13">
                    <c:v>Mar '26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320</c:v>
                </c:pt>
                <c:pt idx="1">
                  <c:v>280</c:v>
                </c:pt>
                <c:pt idx="2">
                  <c:v>410</c:v>
                </c:pt>
                <c:pt idx="3">
                  <c:v>390</c:v>
                </c:pt>
                <c:pt idx="4">
                  <c:v>450</c:v>
                </c:pt>
                <c:pt idx="5">
                  <c:v>510</c:v>
                </c:pt>
                <c:pt idx="6">
                  <c:v>620</c:v>
                </c:pt>
                <c:pt idx="7">
                  <c:v>580</c:v>
                </c:pt>
                <c:pt idx="8">
                  <c:v>640</c:v>
                </c:pt>
                <c:pt idx="9">
                  <c:v>700</c:v>
                </c:pt>
                <c:pt idx="10">
                  <c:v>760</c:v>
                </c:pt>
                <c:pt idx="11">
                  <c:v>720</c:v>
                </c:pt>
                <c:pt idx="12">
                  <c:v>810</c:v>
                </c:pt>
                <c:pt idx="13">
                  <c:v>790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C21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 (7d Avg)</c:v>
                </c:pt>
              </c:strCache>
            </c:strRef>
          </c:tx>
          <c:spPr>
            <a:solidFill>
              <a:srgbClr val="FF4B4B"/>
            </a:solidFill>
            <a:ln w="25400" cap="flat">
              <a:solidFill>
                <a:srgbClr val="FF4B4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B4B"/>
              </a:solidFill>
              <a:ln w="9525" cap="flat">
                <a:solidFill>
                  <a:srgbClr val="FF4B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Jan '23</c:v>
                  </c:pt>
                  <c:pt idx="1">
                    <c:v>Apr '23</c:v>
                  </c:pt>
                  <c:pt idx="2">
                    <c:v>Jul '23</c:v>
                  </c:pt>
                  <c:pt idx="3">
                    <c:v>Oct '23</c:v>
                  </c:pt>
                  <c:pt idx="4">
                    <c:v>Jan '24</c:v>
                  </c:pt>
                  <c:pt idx="5">
                    <c:v>Apr '24</c:v>
                  </c:pt>
                  <c:pt idx="6">
                    <c:v>Jul '24</c:v>
                  </c:pt>
                  <c:pt idx="7">
                    <c:v>Oct '24</c:v>
                  </c:pt>
                  <c:pt idx="8">
                    <c:v>Jan '25</c:v>
                  </c:pt>
                  <c:pt idx="9">
                    <c:v>Apr '25</c:v>
                  </c:pt>
                  <c:pt idx="10">
                    <c:v>Jul '25</c:v>
                  </c:pt>
                  <c:pt idx="11">
                    <c:v>Oct '25</c:v>
                  </c:pt>
                  <c:pt idx="12">
                    <c:v>Jan '26</c:v>
                  </c:pt>
                  <c:pt idx="13">
                    <c:v>Mar '26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65</c:v>
                </c:pt>
                <c:pt idx="1">
                  <c:v>58</c:v>
                </c:pt>
                <c:pt idx="2">
                  <c:v>82</c:v>
                </c:pt>
                <c:pt idx="3">
                  <c:v>79</c:v>
                </c:pt>
                <c:pt idx="4">
                  <c:v>88</c:v>
                </c:pt>
                <c:pt idx="5">
                  <c:v>110</c:v>
                </c:pt>
                <c:pt idx="6">
                  <c:v>145</c:v>
                </c:pt>
                <c:pt idx="7">
                  <c:v>92</c:v>
                </c:pt>
                <c:pt idx="8">
                  <c:v>118</c:v>
                </c:pt>
                <c:pt idx="9">
                  <c:v>138</c:v>
                </c:pt>
                <c:pt idx="10">
                  <c:v>162</c:v>
                </c:pt>
                <c:pt idx="11">
                  <c:v>125</c:v>
                </c:pt>
                <c:pt idx="12">
                  <c:v>155</c:v>
                </c:pt>
                <c:pt idx="13">
                  <c:v>140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0000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0" y="4572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0" y="18288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0" y="32004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4572000"/>
            <a:ext cx="731520" cy="1097280"/>
          </a:xfrm>
          <a:prstGeom prst="rect">
            <a:avLst/>
          </a:prstGeom>
          <a:solidFill>
            <a:srgbClr val="1C2135">
              <a:alpha val="40000"/>
            </a:srgbClr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1097280"/>
            <a:ext cx="5029200" cy="4572000"/>
          </a:xfrm>
          <a:prstGeom prst="rect">
            <a:avLst/>
          </a:prstGeom>
          <a:solidFill>
            <a:srgbClr val="1C2135">
              <a:alpha val="60000"/>
            </a:srgbClr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0972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0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0" dirty="0"/>
          </a:p>
        </p:txBody>
      </p:sp>
      <p:sp>
        <p:nvSpPr>
          <p:cNvPr id="29" name="Text 27"/>
          <p:cNvSpPr/>
          <p:nvPr/>
        </p:nvSpPr>
        <p:spPr>
          <a:xfrm>
            <a:off x="6675120" y="10972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C9A84C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8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MONFRÈRE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137160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5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Audit</a:t>
            </a:r>
            <a:endParaRPr lang="en-US" sz="5800" dirty="0"/>
          </a:p>
        </p:txBody>
      </p:sp>
      <p:sp>
        <p:nvSpPr>
          <p:cNvPr id="32" name="Text 30"/>
          <p:cNvSpPr/>
          <p:nvPr/>
        </p:nvSpPr>
        <p:spPr>
          <a:xfrm>
            <a:off x="365760" y="3840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Efficiency &amp; Incrementality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3657600" cy="27432"/>
          </a:xfrm>
          <a:prstGeom prst="rect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 </a:t>
            </a:r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Awin Affiliate Analytics  </a:t>
            </a:r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ORCHESTRATED BY TRIACAF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Dual-Engine Approach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historical performance to identify hidden inefficiencies and unlock profitable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237744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45720" cy="2377440"/>
          </a:xfrm>
          <a:prstGeom prst="rect">
            <a:avLst/>
          </a:prstGeom>
          <a:solidFill>
            <a:srgbClr val="4F8BF9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Ads Analysis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B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$515K</a:t>
            </a:r>
            <a:pPr indent="0" marL="0">
              <a:buNone/>
            </a:pPr>
            <a:r>
              <a:rPr lang="en-US" sz="13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historical spend analyzed across 3+ years of creative data.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creative efficiency  </a:t>
            </a:r>
            <a:pPr indent="0" marL="0">
              <a:buNone/>
            </a:pPr>
            <a:r>
              <a:rPr lang="en-US" sz="120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wasted spend  </a:t>
            </a:r>
            <a:pPr indent="0" marL="0">
              <a:buNone/>
            </a:pPr>
            <a:r>
              <a:rPr lang="en-US" sz="120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scaling thresholds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394960" cy="237744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45720" cy="2377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Awin Affiliate Audit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NCAR</a:t>
            </a:r>
            <a:pPr indent="0" marL="0">
              <a:buNone/>
            </a:pPr>
            <a:r>
              <a:rPr lang="en-US" sz="13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New Customer Acquisition Rate — measured at the publisher level.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top-line revenue  </a:t>
            </a:r>
            <a:pPr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Planters vs. Harvesters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11064240" cy="1325880"/>
          </a:xfrm>
          <a:prstGeom prst="rect">
            <a:avLst/>
          </a:prstGeom>
          <a:solidFill>
            <a:srgbClr val="0D1423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69080"/>
            <a:ext cx="54864" cy="1325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4480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opportunities exist to reallocate budget from statistically failing ads and "Harvester" affiliates toward high-performing assets and "Planter" partners — driving real incremental revenue growth.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OVERVIEW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F8BF9">
              <a:alpha val="15000"/>
            </a:srgbClr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Snapshot  2023 – YTD 2026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743200" cy="16002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2743200" cy="36576"/>
          </a:xfrm>
          <a:prstGeom prst="rect">
            <a:avLst/>
          </a:prstGeom>
          <a:solidFill>
            <a:srgbClr val="4F8BF9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F8B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$515,195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Tracked Spend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 of ad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743200" cy="16002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743200" cy="36576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5361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4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$237,518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93008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Revenue (Est.)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54203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reported ROAS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2743200" cy="16002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17320"/>
            <a:ext cx="2743200" cy="365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5361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0.46×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19088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254203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Dragged by Money Pits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35440" y="1417320"/>
            <a:ext cx="2743200" cy="16002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1417320"/>
            <a:ext cx="2743200" cy="3657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168" y="15361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$92.25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345168" y="22402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CPA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45168" y="254203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average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3721608" cy="329184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015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Scope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3200400" cy="18288"/>
          </a:xfrm>
          <a:prstGeom prst="rect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13632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aggregated daily data across 2023–2026 reporting period. Multi-year trend enables pattern detection across budget cycles and creative rotations.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61688" y="3246120"/>
            <a:ext cx="3721608" cy="329184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44568" y="34015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ROAS Problem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44568" y="3840480"/>
            <a:ext cx="3200400" cy="18288"/>
          </a:xfrm>
          <a:prstGeom prst="rect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3913632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0.46× blended ROAS is not a structural failure — it's a measurement artifact. High-spend zero-conversion creatives in the 'Money Pit' quadrant drag the entire account average.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66176" y="3246120"/>
            <a:ext cx="3721608" cy="329184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49056" y="34015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Opportunity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449056" y="3840480"/>
            <a:ext cx="3200400" cy="18288"/>
          </a:xfrm>
          <a:prstGeom prst="rect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9056" y="3913632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creative-level analysis reveals pockets of 2–4× ROAS buried within the account. Pruning inefficiency alone can materially shift blended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CREATIVE QUADRANT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F8BF9">
              <a:alpha val="15000"/>
            </a:srgbClr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INTELLIGENCE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Creative Winners &amp; Losers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429000" cy="2560320"/>
          </a:xfrm>
          <a:prstGeom prst="rect">
            <a:avLst/>
          </a:prstGeom>
          <a:solidFill>
            <a:srgbClr val="0F152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1371600"/>
            <a:ext cx="3429000" cy="2560320"/>
          </a:xfrm>
          <a:prstGeom prst="rect">
            <a:avLst/>
          </a:prstGeom>
          <a:solidFill>
            <a:srgbClr val="0A1A12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931920"/>
            <a:ext cx="3429000" cy="2560320"/>
          </a:xfrm>
          <a:prstGeom prst="rect">
            <a:avLst/>
          </a:prstGeom>
          <a:solidFill>
            <a:srgbClr val="180F1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3931920"/>
            <a:ext cx="3429000" cy="2560320"/>
          </a:xfrm>
          <a:prstGeom prst="rect">
            <a:avLst/>
          </a:prstGeom>
          <a:solidFill>
            <a:srgbClr val="0A121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463040"/>
            <a:ext cx="0" cy="4937760"/>
          </a:xfrm>
          <a:prstGeom prst="line">
            <a:avLst/>
          </a:prstGeom>
          <a:noFill/>
          <a:ln w="19050">
            <a:solidFill>
              <a:srgbClr val="2A33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3931920"/>
            <a:ext cx="6675120" cy="0"/>
          </a:xfrm>
          <a:prstGeom prst="line">
            <a:avLst/>
          </a:prstGeom>
          <a:noFill/>
          <a:ln w="19050">
            <a:solidFill>
              <a:srgbClr val="2A335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436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7764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HIGH SPEND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ROAS 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ROAS 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605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18105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Now — Core Assets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8105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Budget — High Potential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708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Low Priority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605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43708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— Waste Elimination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1842516"/>
            <a:ext cx="640080" cy="640080"/>
          </a:xfrm>
          <a:prstGeom prst="ellipse">
            <a:avLst/>
          </a:prstGeom>
          <a:solidFill>
            <a:srgbClr val="00C853">
              <a:alpha val="60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5466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Ad 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16168" y="2461565"/>
            <a:ext cx="512064" cy="512064"/>
          </a:xfrm>
          <a:prstGeom prst="ellipse">
            <a:avLst/>
          </a:prstGeom>
          <a:solidFill>
            <a:srgbClr val="00C853">
              <a:alpha val="60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0432" y="1973275"/>
            <a:ext cx="402336" cy="402336"/>
          </a:xfrm>
          <a:prstGeom prst="ellipse">
            <a:avLst/>
          </a:prstGeom>
          <a:solidFill>
            <a:srgbClr val="4F8BF9">
              <a:alpha val="60000"/>
            </a:srgbClr>
          </a:solidFill>
          <a:ln w="19050">
            <a:solidFill>
              <a:srgbClr val="4F8B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415845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304288" y="2379269"/>
            <a:ext cx="329184" cy="329184"/>
          </a:xfrm>
          <a:prstGeom prst="ellipse">
            <a:avLst/>
          </a:prstGeom>
          <a:solidFill>
            <a:srgbClr val="4F8BF9">
              <a:alpha val="60000"/>
            </a:srgbClr>
          </a:solidFill>
          <a:ln w="19050">
            <a:solidFill>
              <a:srgbClr val="4F8B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8072" y="4240987"/>
            <a:ext cx="768096" cy="768096"/>
          </a:xfrm>
          <a:prstGeom prst="ellipse">
            <a:avLst/>
          </a:prstGeom>
          <a:solidFill>
            <a:srgbClr val="FF4B4B">
              <a:alpha val="60000"/>
            </a:srgbClr>
          </a:solidFill>
          <a:ln w="19050">
            <a:solidFill>
              <a:srgbClr val="FF4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5085893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X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55080" y="5001768"/>
            <a:ext cx="548640" cy="548640"/>
          </a:xfrm>
          <a:prstGeom prst="ellipse">
            <a:avLst/>
          </a:prstGeom>
          <a:solidFill>
            <a:srgbClr val="FF4B4B">
              <a:alpha val="60000"/>
            </a:srgbClr>
          </a:solidFill>
          <a:ln w="19050">
            <a:solidFill>
              <a:srgbClr val="FF4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82496" y="4959706"/>
            <a:ext cx="292608" cy="292608"/>
          </a:xfrm>
          <a:prstGeom prst="ellipse">
            <a:avLst/>
          </a:prstGeom>
          <a:solidFill>
            <a:srgbClr val="8896B3">
              <a:alpha val="60000"/>
            </a:srgbClr>
          </a:solidFill>
          <a:ln w="19050">
            <a:solidFill>
              <a:srgbClr val="8896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1371600"/>
            <a:ext cx="4297680" cy="15087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89520" y="1371600"/>
            <a:ext cx="45720" cy="1508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WINNERS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186537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budgets 20–30%. Protect these assets from audience fatigue with fresh variants.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589520" y="3108960"/>
            <a:ext cx="4297680" cy="15087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3108960"/>
            <a:ext cx="45720" cy="1508760"/>
          </a:xfrm>
          <a:prstGeom prst="rect">
            <a:avLst/>
          </a:prstGeom>
          <a:solidFill>
            <a:srgbClr val="4F8BF9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HIDDEN GEMS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18120" y="360273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scaling tests. Increase daily budgets by $50 increments and monitor CPA.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589520" y="4846320"/>
            <a:ext cx="4297680" cy="15087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89520" y="4846320"/>
            <a:ext cx="45720" cy="15087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5010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MONEY PITS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18120" y="534009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Kill Switch immediately. 0 purchases at 3× CPA threshold = statistical failure.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KILL SWITCH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F4B4B">
              <a:alpha val="15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ELIMINATION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Statistical Kill Switch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315200" cy="1234440"/>
          </a:xfrm>
          <a:prstGeom prst="rect">
            <a:avLst/>
          </a:prstGeom>
          <a:solidFill>
            <a:srgbClr val="1A0D0D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123444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ad that spends more than 3× the Account CPA ($276+) without generating a single purchase.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840480" cy="1234440"/>
          </a:xfrm>
          <a:prstGeom prst="rect">
            <a:avLst/>
          </a:prstGeom>
          <a:solidFill>
            <a:srgbClr val="0A0A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5087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pPr algn="ctr" indent="0" marL="0">
              <a:buNone/>
            </a:pPr>
            <a:r>
              <a:rPr lang="en-US" sz="16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20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$92.25</a:t>
            </a:r>
            <a:pPr algn="ctr" indent="0" marL="0">
              <a:buNone/>
            </a:pPr>
            <a:r>
              <a:rPr lang="en-US" sz="16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ctr"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$276.75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92440" y="22402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× CPA = Failure Threshold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WASTED SPEND — ZERO PURCHASES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Carousel — Retargeting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154680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154680"/>
            <a:ext cx="6632448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4288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Image — Cold Audience LLA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721608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721608"/>
            <a:ext cx="5266944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784" y="3767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15s — Interest Targeting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288536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288536"/>
            <a:ext cx="4779264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1104" y="43342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Story — Broad Expansion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4855464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855464"/>
            <a:ext cx="4096512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49011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4498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Ad — Site Visitors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5422392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5422392"/>
            <a:ext cx="3706368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8208" y="54681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167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Ad — New Arrivals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5989320"/>
            <a:ext cx="7315200" cy="384048"/>
          </a:xfrm>
          <a:prstGeom prst="rect">
            <a:avLst/>
          </a:prstGeom>
          <a:solidFill>
            <a:srgbClr val="161D2E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5989320"/>
            <a:ext cx="3023616" cy="384048"/>
          </a:xfrm>
          <a:prstGeom prst="rect">
            <a:avLst/>
          </a:prstGeom>
          <a:solidFill>
            <a:srgbClr val="FF4B4B">
              <a:alpha val="75000"/>
            </a:srgbClr>
          </a:solidFill>
          <a:ln w="6350">
            <a:solidFill>
              <a:srgbClr val="FF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5456" y="6035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81360" y="3063240"/>
            <a:ext cx="1051560" cy="105156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881360" y="31729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$2,820+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881360" y="363016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881360" y="4297680"/>
            <a:ext cx="1051560" cy="105156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881360" y="44074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Ads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881360" y="486460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Pause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881360" y="5532120"/>
            <a:ext cx="1051560" cy="1051560"/>
          </a:xfrm>
          <a:prstGeom prst="rect">
            <a:avLst/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881360" y="56418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6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881360" y="609904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521440" cy="256032"/>
          </a:xfrm>
          <a:prstGeom prst="rect">
            <a:avLst/>
          </a:prstGeom>
          <a:solidFill>
            <a:srgbClr val="1209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646480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Set automated rules in Meta Business Manager to pause flagged creatives before additional budget drains.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TEMPORAL ANALYSIS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F8BF9">
              <a:alpha val="15000"/>
            </a:srgbClr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VS. EFFICIENCY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Scaling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5720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457200" y="132588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57200" y="132588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1536192" y="2176272"/>
            <a:ext cx="219456" cy="219456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0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Push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+CPA Spike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919472" y="162763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208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Fatigue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961120" y="1325880"/>
            <a:ext cx="2926080" cy="1024128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0" y="1325880"/>
            <a:ext cx="45720" cy="102412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89720" y="1417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≠ Efficiency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89720" y="17099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aggressive budget push produced a measurable CPA spike — confirming audience saturation as the primary driver.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961120" y="2487168"/>
            <a:ext cx="2926080" cy="1024128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1120" y="2487168"/>
            <a:ext cx="45720" cy="1024128"/>
          </a:xfrm>
          <a:prstGeom prst="rect">
            <a:avLst/>
          </a:prstGeom>
          <a:solidFill>
            <a:srgbClr val="4F8BF9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8972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Signal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189720" y="287121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rolling average reveals the true relationship. Day-level noise hides the pattern; the 7d view exposes it clearly.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961120" y="3648456"/>
            <a:ext cx="2926080" cy="1024128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961120" y="3648456"/>
            <a:ext cx="45720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89720" y="37398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Refresh Cycles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189720" y="403250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recovery occurred only when new creative variants were introduced. Scaling without fresh creative is a losing bet.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961120" y="4809744"/>
            <a:ext cx="2926080" cy="1024128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961120" y="4809744"/>
            <a:ext cx="45720" cy="10241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89720" y="49011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Methodical Budget Cadence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189720" y="519379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No more than 20% weekly budget increases, paired with new creative testing to maintain efficiency floors.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AWIN · INCREMENTALITY AUDIT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0C853">
              <a:alpha val="1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INTELLIGENCE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Beyond "Total Sales"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1A0909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22860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APPROACH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8105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Revenue Reporting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programs are traditionally evaluated on </a:t>
            </a:r>
            <a:pPr indent="0" marL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revenue only.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hides the critical question: Are these sales truly </a:t>
            </a:r>
            <a:pPr indent="0" marL="0">
              <a:buNone/>
            </a:pPr>
            <a:r>
              <a:rPr lang="en-US" sz="1200" b="1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incremental?</a:t>
            </a:r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are affiliates simply claiming commission on shoppers who were already going to buy?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091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45720" cy="22860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METRIC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6520" y="181051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Customer Acquisition Rate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46520" y="2267712"/>
            <a:ext cx="5212080" cy="594360"/>
          </a:xfrm>
          <a:prstGeom prst="rect">
            <a:avLst/>
          </a:prstGeom>
          <a:solidFill>
            <a:srgbClr val="06121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3317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NCAR = ( New Customer Sales ÷ Total Sales ) × 100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926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at the publisher level from row-level Awin transaction data — mapping each transaction to 'new' vs 'returning' customer status.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NCAR CHANGES EVERYTHING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721608" cy="24231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343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4440" y="43708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True 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828032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affiliate with $200K revenue and 5% NCAR is worth far less than one with $50K revenue and 65% NCAR — NCAR reveals this truth.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4206240"/>
            <a:ext cx="3721608" cy="24231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44568" y="4343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138928" y="43708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Commission Waste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4828032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sites with 95% returning customer rates cost you margin on sales that would have happened anyway. NCAR quantifies this drain.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66176" y="4206240"/>
            <a:ext cx="3721608" cy="242316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49056" y="4343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43416" y="43708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Precision Payouts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49056" y="4828032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High-NCAR publishers deserve premium commissions for top-of-funnel work. Commission structures can now align with actual business value.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AWIN · PARTNER CLASSIFICATION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0C853">
              <a:alpha val="1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PLANTER VS. HARVESTER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Reclassifying the Affiliate Landscape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2651760"/>
          </a:xfrm>
          <a:prstGeom prst="rect">
            <a:avLst/>
          </a:prstGeom>
          <a:solidFill>
            <a:srgbClr val="08150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2651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PLANTERS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Incrementality Partners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371600" cy="457200"/>
          </a:xfrm>
          <a:prstGeom prst="rect">
            <a:avLst/>
          </a:prstGeom>
          <a:solidFill>
            <a:srgbClr val="0A2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6771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NCAR &gt; 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creators, editorial publishers, and influencers who drive </a:t>
            </a:r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top-of-funnel discovery.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partners expose Monfrère to audiences who would not have found the brand otherwise — converting them into new customers.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5669280" cy="2651760"/>
          </a:xfrm>
          <a:prstGeom prst="rect">
            <a:avLst/>
          </a:prstGeom>
          <a:solidFill>
            <a:srgbClr val="1A0808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45720" cy="26517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08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HARVESTERS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Incrementality Partners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240280"/>
            <a:ext cx="1371600" cy="457200"/>
          </a:xfrm>
          <a:prstGeom prst="rect">
            <a:avLst/>
          </a:prstGeom>
          <a:solidFill>
            <a:srgbClr val="2A0808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6771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NCAR &lt; 20%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Coupon, loyalty, and cashback sites with </a:t>
            </a:r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volume — but overwhelmingly from returning customers.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partners intercept shoppers already committed to buying, collecting affiliate commission on sales that cost Monfrère margin with zero incremental value.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RESTRUCTURE BLUEPRINT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1152144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2926080"/>
                <a:gridCol w="48463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3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🌱 Planter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8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Commission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8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CPA bounty for new customer conversions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0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🌾 Harvester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8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or Reduce Commission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8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% only on new customer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A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prioritized initiatives to unlock immediate efficiency and build toward Phase 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715000" cy="25146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45720" cy="25146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356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B4B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Meta Kill Switch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198424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4B4B">
              <a:alpha val="20000"/>
            </a:srgbClr>
          </a:solidFill>
          <a:ln w="10160">
            <a:solidFill>
              <a:srgbClr val="FF4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(Week 1)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automated rules in Meta Business Manager to pause any ad that spends &gt;3× the Account CPA ($276+) with zero purchases. This stops active budget bleed immediately.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5303520" cy="292608"/>
          </a:xfrm>
          <a:prstGeom prst="rect">
            <a:avLst/>
          </a:prstGeom>
          <a:solidFill>
            <a:srgbClr val="0A0D18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655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Est. $2,800+ saved per cycle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1325880"/>
            <a:ext cx="5715000" cy="25146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325880"/>
            <a:ext cx="45720" cy="2514600"/>
          </a:xfrm>
          <a:prstGeom prst="rect">
            <a:avLst/>
          </a:prstGeom>
          <a:solidFill>
            <a:srgbClr val="4F8BF9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4356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BF9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4904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Budget to Hidden Gems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3680" y="198424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4F8BF9">
              <a:alpha val="20000"/>
            </a:srgbClr>
          </a:solidFill>
          <a:ln w="10160">
            <a:solidFill>
              <a:srgbClr val="4F8B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(Weeks 2–4)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freed budget from the 'Money Pits' quadrant into the 'Hidden Gems' quadrant using the creative efficiency insight matrix. Use incremental $50/day tests with CPA monitoring.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429000"/>
            <a:ext cx="5303520" cy="292608"/>
          </a:xfrm>
          <a:prstGeom prst="rect">
            <a:avLst/>
          </a:prstGeom>
          <a:solidFill>
            <a:srgbClr val="0A0D18"/>
          </a:solidFill>
          <a:ln w="12700">
            <a:solidFill>
              <a:srgbClr val="4F8B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4655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Target: 30% CPA improvement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715000" cy="25146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69080"/>
            <a:ext cx="45720" cy="25146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78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53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25880" y="42336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Commission Restructure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5800" y="472744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0C853">
              <a:alpha val="20000"/>
            </a:srgbClr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(Month 2)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" y="50749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Awin payout structures to heavily incentivize NCAR-positive Planters with performance bounties. Cap commissions for Harvesters on returning customer transactions.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6172200"/>
            <a:ext cx="5303520" cy="292608"/>
          </a:xfrm>
          <a:prstGeom prst="rect">
            <a:avLst/>
          </a:prstGeom>
          <a:solidFill>
            <a:srgbClr val="0A0D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2087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Recover 8–15% affiliate margin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4069080"/>
            <a:ext cx="5715000" cy="2514600"/>
          </a:xfrm>
          <a:prstGeom prst="rect">
            <a:avLst/>
          </a:prstGeom>
          <a:solidFill>
            <a:srgbClr val="1C2135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4069080"/>
            <a:ext cx="45720" cy="2514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178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223760" y="42336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Audit: LTV Integration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583680" y="472744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C9A84C">
              <a:alpha val="20000"/>
            </a:srgbClr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(Month 3+)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83680" y="50749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ingestion of Shopify LTV data to measure back-end profitability of newly acquired customer cohorts. Close the loop between acquisition cost and 12-month customer value.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6172200"/>
            <a:ext cx="5303520" cy="292608"/>
          </a:xfrm>
          <a:prstGeom prst="rect">
            <a:avLst/>
          </a:prstGeom>
          <a:solidFill>
            <a:srgbClr val="0A0D1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62087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Full incrementality measurement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-457200"/>
            <a:ext cx="6858000" cy="777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0" b="1" dirty="0">
                <a:solidFill>
                  <a:srgbClr val="1C21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MONFRÈRE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telling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story.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we act on it.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0"/>
            <a:ext cx="3657600" cy="27432"/>
          </a:xfrm>
          <a:prstGeom prst="rect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26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5047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4526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Actions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5047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0" y="4526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5047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ORCHESTRATED BY TRIACAF  ·  TRIACAF.COM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Monfrère Phase 1 Tactical Audit</dc:title>
  <dc:subject>PptxGenJS Presentation</dc:subject>
  <dc:creator>TriaCaf Data Intelligence</dc:creator>
  <cp:lastModifiedBy>TriaCaf Data Intelligence</cp:lastModifiedBy>
  <cp:revision>1</cp:revision>
  <dcterms:created xsi:type="dcterms:W3CDTF">2026-03-16T05:15:01Z</dcterms:created>
  <dcterms:modified xsi:type="dcterms:W3CDTF">2026-03-16T05:15:01Z</dcterms:modified>
</cp:coreProperties>
</file>